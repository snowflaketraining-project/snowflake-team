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Gotham Bold" charset="1" panose="00000000000000000000"/>
      <p:regular r:id="rId14"/>
    </p:embeddedFont>
    <p:embeddedFont>
      <p:font typeface="Gotham" charset="1" panose="0000000000000000000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Relationship Id="rId7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Relationship Id="rId6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2.png" Type="http://schemas.openxmlformats.org/officeDocument/2006/relationships/image"/><Relationship Id="rId5" Target="../media/image8.png" Type="http://schemas.openxmlformats.org/officeDocument/2006/relationships/image"/><Relationship Id="rId6" Target="../media/image1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15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16.png" Type="http://schemas.openxmlformats.org/officeDocument/2006/relationships/image"/><Relationship Id="rId5" Target="../media/image2.png" Type="http://schemas.openxmlformats.org/officeDocument/2006/relationships/image"/><Relationship Id="rId6" Target="../media/image8.png" Type="http://schemas.openxmlformats.org/officeDocument/2006/relationships/image"/><Relationship Id="rId7" Target="../media/image17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97525" cy="10287000"/>
          </a:xfrm>
          <a:custGeom>
            <a:avLst/>
            <a:gdLst/>
            <a:ahLst/>
            <a:cxnLst/>
            <a:rect r="r" b="b" t="t" l="l"/>
            <a:pathLst>
              <a:path h="10287000" w="18297525">
                <a:moveTo>
                  <a:pt x="0" y="0"/>
                </a:moveTo>
                <a:lnTo>
                  <a:pt x="18297525" y="0"/>
                </a:lnTo>
                <a:lnTo>
                  <a:pt x="1829752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21" t="-81515" r="-4344" b="-8388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407973" y="-1087101"/>
            <a:ext cx="7880027" cy="4326851"/>
          </a:xfrm>
          <a:custGeom>
            <a:avLst/>
            <a:gdLst/>
            <a:ahLst/>
            <a:cxnLst/>
            <a:rect r="r" b="b" t="t" l="l"/>
            <a:pathLst>
              <a:path h="4326851" w="7880027">
                <a:moveTo>
                  <a:pt x="0" y="0"/>
                </a:moveTo>
                <a:lnTo>
                  <a:pt x="7880027" y="0"/>
                </a:lnTo>
                <a:lnTo>
                  <a:pt x="7880027" y="4326852"/>
                </a:lnTo>
                <a:lnTo>
                  <a:pt x="0" y="43268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519858" y="3036711"/>
            <a:ext cx="1034550" cy="893475"/>
          </a:xfrm>
          <a:custGeom>
            <a:avLst/>
            <a:gdLst/>
            <a:ahLst/>
            <a:cxnLst/>
            <a:rect r="r" b="b" t="t" l="l"/>
            <a:pathLst>
              <a:path h="893475" w="1034550">
                <a:moveTo>
                  <a:pt x="0" y="0"/>
                </a:moveTo>
                <a:lnTo>
                  <a:pt x="1034550" y="0"/>
                </a:lnTo>
                <a:lnTo>
                  <a:pt x="1034550" y="893476"/>
                </a:lnTo>
                <a:lnTo>
                  <a:pt x="0" y="8934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24991" y="3930187"/>
            <a:ext cx="1034550" cy="893475"/>
          </a:xfrm>
          <a:custGeom>
            <a:avLst/>
            <a:gdLst/>
            <a:ahLst/>
            <a:cxnLst/>
            <a:rect r="r" b="b" t="t" l="l"/>
            <a:pathLst>
              <a:path h="893475" w="1034550">
                <a:moveTo>
                  <a:pt x="0" y="0"/>
                </a:moveTo>
                <a:lnTo>
                  <a:pt x="1034550" y="0"/>
                </a:lnTo>
                <a:lnTo>
                  <a:pt x="1034550" y="893475"/>
                </a:lnTo>
                <a:lnTo>
                  <a:pt x="0" y="8934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0"/>
            <a:ext cx="18297525" cy="10287000"/>
          </a:xfrm>
          <a:custGeom>
            <a:avLst/>
            <a:gdLst/>
            <a:ahLst/>
            <a:cxnLst/>
            <a:rect r="r" b="b" t="t" l="l"/>
            <a:pathLst>
              <a:path h="10287000" w="18297525">
                <a:moveTo>
                  <a:pt x="0" y="0"/>
                </a:moveTo>
                <a:lnTo>
                  <a:pt x="18297525" y="0"/>
                </a:lnTo>
                <a:lnTo>
                  <a:pt x="1829752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8999"/>
            </a:blip>
            <a:stretch>
              <a:fillRect l="-3677" t="-2437" r="-7189" b="-29028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59038" y="461506"/>
            <a:ext cx="5595408" cy="2042324"/>
          </a:xfrm>
          <a:custGeom>
            <a:avLst/>
            <a:gdLst/>
            <a:ahLst/>
            <a:cxnLst/>
            <a:rect r="r" b="b" t="t" l="l"/>
            <a:pathLst>
              <a:path h="2042324" w="5595408">
                <a:moveTo>
                  <a:pt x="0" y="0"/>
                </a:moveTo>
                <a:lnTo>
                  <a:pt x="5595407" y="0"/>
                </a:lnTo>
                <a:lnTo>
                  <a:pt x="5595407" y="2042324"/>
                </a:lnTo>
                <a:lnTo>
                  <a:pt x="0" y="204232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0" y="2655942"/>
            <a:ext cx="18297525" cy="1720983"/>
            <a:chOff x="0" y="0"/>
            <a:chExt cx="4819101" cy="45326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19101" cy="453263"/>
            </a:xfrm>
            <a:custGeom>
              <a:avLst/>
              <a:gdLst/>
              <a:ahLst/>
              <a:cxnLst/>
              <a:rect r="r" b="b" t="t" l="l"/>
              <a:pathLst>
                <a:path h="453263" w="4819101">
                  <a:moveTo>
                    <a:pt x="0" y="0"/>
                  </a:moveTo>
                  <a:lnTo>
                    <a:pt x="4819101" y="0"/>
                  </a:lnTo>
                  <a:lnTo>
                    <a:pt x="4819101" y="453263"/>
                  </a:lnTo>
                  <a:lnTo>
                    <a:pt x="0" y="453263"/>
                  </a:lnTo>
                  <a:close/>
                </a:path>
              </a:pathLst>
            </a:custGeom>
            <a:solidFill>
              <a:srgbClr val="97CFE7">
                <a:alpha val="80000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819101" cy="4913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28700" y="2653837"/>
            <a:ext cx="17195483" cy="1203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00"/>
              </a:lnSpc>
            </a:pPr>
            <a:r>
              <a:rPr lang="en-US" b="true" sz="7000">
                <a:solidFill>
                  <a:srgbClr val="00044C"/>
                </a:solidFill>
                <a:latin typeface="Gotham Bold"/>
                <a:ea typeface="Gotham Bold"/>
                <a:cs typeface="Gotham Bold"/>
                <a:sym typeface="Gotham Bold"/>
              </a:rPr>
              <a:t>Retail: Sales &amp; Customer Analytics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505172" y="4376925"/>
            <a:ext cx="5603493" cy="2616576"/>
          </a:xfrm>
          <a:custGeom>
            <a:avLst/>
            <a:gdLst/>
            <a:ahLst/>
            <a:cxnLst/>
            <a:rect r="r" b="b" t="t" l="l"/>
            <a:pathLst>
              <a:path h="2616576" w="5603493">
                <a:moveTo>
                  <a:pt x="0" y="0"/>
                </a:moveTo>
                <a:lnTo>
                  <a:pt x="5603493" y="0"/>
                </a:lnTo>
                <a:lnTo>
                  <a:pt x="5603493" y="2616575"/>
                </a:lnTo>
                <a:lnTo>
                  <a:pt x="0" y="26165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-42769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559038" y="6855883"/>
            <a:ext cx="9274959" cy="2402417"/>
            <a:chOff x="0" y="0"/>
            <a:chExt cx="2442788" cy="63273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442788" cy="632735"/>
            </a:xfrm>
            <a:custGeom>
              <a:avLst/>
              <a:gdLst/>
              <a:ahLst/>
              <a:cxnLst/>
              <a:rect r="r" b="b" t="t" l="l"/>
              <a:pathLst>
                <a:path h="632735" w="2442788">
                  <a:moveTo>
                    <a:pt x="36727" y="0"/>
                  </a:moveTo>
                  <a:lnTo>
                    <a:pt x="2406060" y="0"/>
                  </a:lnTo>
                  <a:cubicBezTo>
                    <a:pt x="2426344" y="0"/>
                    <a:pt x="2442788" y="16443"/>
                    <a:pt x="2442788" y="36727"/>
                  </a:cubicBezTo>
                  <a:lnTo>
                    <a:pt x="2442788" y="596008"/>
                  </a:lnTo>
                  <a:cubicBezTo>
                    <a:pt x="2442788" y="616292"/>
                    <a:pt x="2426344" y="632735"/>
                    <a:pt x="2406060" y="632735"/>
                  </a:cubicBezTo>
                  <a:lnTo>
                    <a:pt x="36727" y="632735"/>
                  </a:lnTo>
                  <a:cubicBezTo>
                    <a:pt x="16443" y="632735"/>
                    <a:pt x="0" y="616292"/>
                    <a:pt x="0" y="596008"/>
                  </a:cubicBezTo>
                  <a:lnTo>
                    <a:pt x="0" y="36727"/>
                  </a:lnTo>
                  <a:cubicBezTo>
                    <a:pt x="0" y="16443"/>
                    <a:pt x="16443" y="0"/>
                    <a:pt x="36727" y="0"/>
                  </a:cubicBezTo>
                  <a:close/>
                </a:path>
              </a:pathLst>
            </a:custGeom>
            <a:solidFill>
              <a:srgbClr val="FFFFFF">
                <a:alpha val="72941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2442788" cy="6994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>
                <a:lnSpc>
                  <a:spcPts val="4200"/>
                </a:lnSpc>
              </a:pPr>
              <a:r>
                <a:rPr lang="en-US" sz="3000" b="true">
                  <a:solidFill>
                    <a:srgbClr val="000000">
                      <a:alpha val="72941"/>
                    </a:srgbClr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 Team Members:</a:t>
              </a:r>
            </a:p>
            <a:p>
              <a:pPr algn="just">
                <a:lnSpc>
                  <a:spcPts val="3779"/>
                </a:lnSpc>
              </a:pPr>
            </a:p>
            <a:p>
              <a:pPr algn="just">
                <a:lnSpc>
                  <a:spcPts val="4200"/>
                </a:lnSpc>
              </a:pPr>
              <a:r>
                <a:rPr lang="en-US" sz="3000">
                  <a:solidFill>
                    <a:srgbClr val="000000">
                      <a:alpha val="72941"/>
                    </a:srgbClr>
                  </a:solidFill>
                  <a:latin typeface="Gotham"/>
                  <a:ea typeface="Gotham"/>
                  <a:cs typeface="Gotham"/>
                  <a:sym typeface="Gotham"/>
                </a:rPr>
                <a:t> </a:t>
              </a:r>
              <a:r>
                <a:rPr lang="en-US" sz="3000">
                  <a:solidFill>
                    <a:srgbClr val="000000">
                      <a:alpha val="72941"/>
                    </a:srgbClr>
                  </a:solidFill>
                  <a:latin typeface="Gotham"/>
                  <a:ea typeface="Gotham"/>
                  <a:cs typeface="Gotham"/>
                  <a:sym typeface="Gotham"/>
                </a:rPr>
                <a:t>1) Roshini K        -  (Snowflake Data Engineer) </a:t>
              </a:r>
            </a:p>
            <a:p>
              <a:pPr algn="just">
                <a:lnSpc>
                  <a:spcPts val="4200"/>
                </a:lnSpc>
              </a:pPr>
              <a:r>
                <a:rPr lang="en-US" sz="3000">
                  <a:solidFill>
                    <a:srgbClr val="000000">
                      <a:alpha val="72941"/>
                    </a:srgbClr>
                  </a:solidFill>
                  <a:latin typeface="Gotham"/>
                  <a:ea typeface="Gotham"/>
                  <a:cs typeface="Gotham"/>
                  <a:sym typeface="Gotham"/>
                </a:rPr>
                <a:t> 2) Dharineesh V - (Salesforce Developer)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4614686" y="242905"/>
            <a:ext cx="3673314" cy="1239763"/>
          </a:xfrm>
          <a:custGeom>
            <a:avLst/>
            <a:gdLst/>
            <a:ahLst/>
            <a:cxnLst/>
            <a:rect r="r" b="b" t="t" l="l"/>
            <a:pathLst>
              <a:path h="1239763" w="3673314">
                <a:moveTo>
                  <a:pt x="0" y="0"/>
                </a:moveTo>
                <a:lnTo>
                  <a:pt x="3673314" y="0"/>
                </a:lnTo>
                <a:lnTo>
                  <a:pt x="3673314" y="1239763"/>
                </a:lnTo>
                <a:lnTo>
                  <a:pt x="0" y="12397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22932" b="-99999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2029518" y="553781"/>
            <a:ext cx="5657770" cy="1356981"/>
          </a:xfrm>
          <a:custGeom>
            <a:avLst/>
            <a:gdLst/>
            <a:ahLst/>
            <a:cxnLst/>
            <a:rect r="r" b="b" t="t" l="l"/>
            <a:pathLst>
              <a:path h="1356981" w="5657770">
                <a:moveTo>
                  <a:pt x="0" y="0"/>
                </a:moveTo>
                <a:lnTo>
                  <a:pt x="5657769" y="0"/>
                </a:lnTo>
                <a:lnTo>
                  <a:pt x="5657769" y="1356980"/>
                </a:lnTo>
                <a:lnTo>
                  <a:pt x="0" y="135698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22" t="-81515" r="-4398" b="-83885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020170" y="1132286"/>
            <a:ext cx="10052695" cy="8022428"/>
            <a:chOff x="0" y="0"/>
            <a:chExt cx="2647623" cy="211290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647623" cy="2112903"/>
            </a:xfrm>
            <a:custGeom>
              <a:avLst/>
              <a:gdLst/>
              <a:ahLst/>
              <a:cxnLst/>
              <a:rect r="r" b="b" t="t" l="l"/>
              <a:pathLst>
                <a:path h="2112903" w="2647623">
                  <a:moveTo>
                    <a:pt x="22334" y="0"/>
                  </a:moveTo>
                  <a:lnTo>
                    <a:pt x="2625289" y="0"/>
                  </a:lnTo>
                  <a:cubicBezTo>
                    <a:pt x="2637624" y="0"/>
                    <a:pt x="2647623" y="9999"/>
                    <a:pt x="2647623" y="22334"/>
                  </a:cubicBezTo>
                  <a:lnTo>
                    <a:pt x="2647623" y="2090569"/>
                  </a:lnTo>
                  <a:cubicBezTo>
                    <a:pt x="2647623" y="2102904"/>
                    <a:pt x="2637624" y="2112903"/>
                    <a:pt x="2625289" y="2112903"/>
                  </a:cubicBezTo>
                  <a:lnTo>
                    <a:pt x="22334" y="2112903"/>
                  </a:lnTo>
                  <a:cubicBezTo>
                    <a:pt x="16411" y="2112903"/>
                    <a:pt x="10730" y="2110550"/>
                    <a:pt x="6541" y="2106361"/>
                  </a:cubicBezTo>
                  <a:cubicBezTo>
                    <a:pt x="2353" y="2102173"/>
                    <a:pt x="0" y="2096492"/>
                    <a:pt x="0" y="2090569"/>
                  </a:cubicBezTo>
                  <a:lnTo>
                    <a:pt x="0" y="22334"/>
                  </a:lnTo>
                  <a:cubicBezTo>
                    <a:pt x="0" y="9999"/>
                    <a:pt x="9999" y="0"/>
                    <a:pt x="22334" y="0"/>
                  </a:cubicBezTo>
                  <a:close/>
                </a:path>
              </a:pathLst>
            </a:custGeom>
            <a:solidFill>
              <a:srgbClr val="000000">
                <a:alpha val="14902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647623" cy="21510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020170" y="1132286"/>
            <a:ext cx="9799399" cy="7803034"/>
            <a:chOff x="0" y="0"/>
            <a:chExt cx="2580912" cy="20551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580912" cy="2055120"/>
            </a:xfrm>
            <a:custGeom>
              <a:avLst/>
              <a:gdLst/>
              <a:ahLst/>
              <a:cxnLst/>
              <a:rect r="r" b="b" t="t" l="l"/>
              <a:pathLst>
                <a:path h="2055120" w="2580912">
                  <a:moveTo>
                    <a:pt x="0" y="0"/>
                  </a:moveTo>
                  <a:lnTo>
                    <a:pt x="2580912" y="0"/>
                  </a:lnTo>
                  <a:lnTo>
                    <a:pt x="2580912" y="2055120"/>
                  </a:lnTo>
                  <a:lnTo>
                    <a:pt x="0" y="205512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580912" cy="20932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559038" y="461506"/>
            <a:ext cx="3562599" cy="1300349"/>
          </a:xfrm>
          <a:custGeom>
            <a:avLst/>
            <a:gdLst/>
            <a:ahLst/>
            <a:cxnLst/>
            <a:rect r="r" b="b" t="t" l="l"/>
            <a:pathLst>
              <a:path h="1300349" w="3562599">
                <a:moveTo>
                  <a:pt x="0" y="0"/>
                </a:moveTo>
                <a:lnTo>
                  <a:pt x="3562598" y="0"/>
                </a:lnTo>
                <a:lnTo>
                  <a:pt x="3562598" y="1300348"/>
                </a:lnTo>
                <a:lnTo>
                  <a:pt x="0" y="13003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99103" y="7348871"/>
            <a:ext cx="6266838" cy="2938129"/>
          </a:xfrm>
          <a:custGeom>
            <a:avLst/>
            <a:gdLst/>
            <a:ahLst/>
            <a:cxnLst/>
            <a:rect r="r" b="b" t="t" l="l"/>
            <a:pathLst>
              <a:path h="2938129" w="6266838">
                <a:moveTo>
                  <a:pt x="0" y="0"/>
                </a:moveTo>
                <a:lnTo>
                  <a:pt x="6266837" y="0"/>
                </a:lnTo>
                <a:lnTo>
                  <a:pt x="6266837" y="2938129"/>
                </a:lnTo>
                <a:lnTo>
                  <a:pt x="0" y="293812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42195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5590368" y="2442414"/>
            <a:ext cx="7324217" cy="4290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69"/>
              </a:lnSpc>
            </a:pPr>
            <a:r>
              <a:rPr lang="en-US" sz="3399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1) </a:t>
            </a:r>
            <a:r>
              <a:rPr lang="en-US" sz="3399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Architecture Diagram</a:t>
            </a:r>
          </a:p>
          <a:p>
            <a:pPr algn="l">
              <a:lnSpc>
                <a:spcPts val="6969"/>
              </a:lnSpc>
            </a:pPr>
            <a:r>
              <a:rPr lang="en-US" sz="3399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2) Data Model</a:t>
            </a:r>
          </a:p>
          <a:p>
            <a:pPr algn="l">
              <a:lnSpc>
                <a:spcPts val="6969"/>
              </a:lnSpc>
            </a:pPr>
            <a:r>
              <a:rPr lang="en-US" sz="3399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3) Data Loading</a:t>
            </a:r>
          </a:p>
          <a:p>
            <a:pPr algn="l">
              <a:lnSpc>
                <a:spcPts val="6969"/>
              </a:lnSpc>
            </a:pPr>
            <a:r>
              <a:rPr lang="en-US" sz="3399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4) Data Quality Check</a:t>
            </a:r>
          </a:p>
          <a:p>
            <a:pPr algn="l">
              <a:lnSpc>
                <a:spcPts val="6969"/>
              </a:lnSpc>
            </a:pPr>
            <a:r>
              <a:rPr lang="en-US" sz="3399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5) Dashboard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2058591" y="4690888"/>
            <a:ext cx="879634" cy="1329117"/>
          </a:xfrm>
          <a:custGeom>
            <a:avLst/>
            <a:gdLst/>
            <a:ahLst/>
            <a:cxnLst/>
            <a:rect r="r" b="b" t="t" l="l"/>
            <a:pathLst>
              <a:path h="1329117" w="879634">
                <a:moveTo>
                  <a:pt x="0" y="0"/>
                </a:moveTo>
                <a:lnTo>
                  <a:pt x="879634" y="0"/>
                </a:lnTo>
                <a:lnTo>
                  <a:pt x="879634" y="1329117"/>
                </a:lnTo>
                <a:lnTo>
                  <a:pt x="0" y="132911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5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28700" y="9047237"/>
            <a:ext cx="4515693" cy="2479526"/>
          </a:xfrm>
          <a:custGeom>
            <a:avLst/>
            <a:gdLst/>
            <a:ahLst/>
            <a:cxnLst/>
            <a:rect r="r" b="b" t="t" l="l"/>
            <a:pathLst>
              <a:path h="2479526" w="4515693">
                <a:moveTo>
                  <a:pt x="0" y="0"/>
                </a:moveTo>
                <a:lnTo>
                  <a:pt x="4515693" y="0"/>
                </a:lnTo>
                <a:lnTo>
                  <a:pt x="4515693" y="2479526"/>
                </a:lnTo>
                <a:lnTo>
                  <a:pt x="0" y="247952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5590368" y="1384029"/>
            <a:ext cx="7581083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true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Agenda: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-1698809" y="8736472"/>
            <a:ext cx="4515693" cy="1550528"/>
          </a:xfrm>
          <a:custGeom>
            <a:avLst/>
            <a:gdLst/>
            <a:ahLst/>
            <a:cxnLst/>
            <a:rect r="r" b="b" t="t" l="l"/>
            <a:pathLst>
              <a:path h="1550528" w="4515693">
                <a:moveTo>
                  <a:pt x="0" y="0"/>
                </a:moveTo>
                <a:lnTo>
                  <a:pt x="4515693" y="0"/>
                </a:lnTo>
                <a:lnTo>
                  <a:pt x="4515693" y="1550528"/>
                </a:lnTo>
                <a:lnTo>
                  <a:pt x="0" y="155052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-59914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5072864" y="6183815"/>
            <a:ext cx="3668416" cy="2014294"/>
          </a:xfrm>
          <a:custGeom>
            <a:avLst/>
            <a:gdLst/>
            <a:ahLst/>
            <a:cxnLst/>
            <a:rect r="r" b="b" t="t" l="l"/>
            <a:pathLst>
              <a:path h="2014294" w="3668416">
                <a:moveTo>
                  <a:pt x="0" y="0"/>
                </a:moveTo>
                <a:lnTo>
                  <a:pt x="3668416" y="0"/>
                </a:lnTo>
                <a:lnTo>
                  <a:pt x="3668416" y="2014294"/>
                </a:lnTo>
                <a:lnTo>
                  <a:pt x="0" y="201429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2058591" y="9047237"/>
            <a:ext cx="4515693" cy="1239763"/>
          </a:xfrm>
          <a:custGeom>
            <a:avLst/>
            <a:gdLst/>
            <a:ahLst/>
            <a:cxnLst/>
            <a:rect r="r" b="b" t="t" l="l"/>
            <a:pathLst>
              <a:path h="1239763" w="4515693">
                <a:moveTo>
                  <a:pt x="0" y="0"/>
                </a:moveTo>
                <a:lnTo>
                  <a:pt x="4515693" y="0"/>
                </a:lnTo>
                <a:lnTo>
                  <a:pt x="4515693" y="1239763"/>
                </a:lnTo>
                <a:lnTo>
                  <a:pt x="0" y="123976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-99999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4225588" y="9291008"/>
            <a:ext cx="4062412" cy="995992"/>
          </a:xfrm>
          <a:custGeom>
            <a:avLst/>
            <a:gdLst/>
            <a:ahLst/>
            <a:cxnLst/>
            <a:rect r="r" b="b" t="t" l="l"/>
            <a:pathLst>
              <a:path h="995992" w="4062412">
                <a:moveTo>
                  <a:pt x="0" y="0"/>
                </a:moveTo>
                <a:lnTo>
                  <a:pt x="4062412" y="0"/>
                </a:lnTo>
                <a:lnTo>
                  <a:pt x="4062412" y="995992"/>
                </a:lnTo>
                <a:lnTo>
                  <a:pt x="0" y="99599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-11157" b="-14895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9092444" cy="10530771"/>
          </a:xfrm>
          <a:custGeom>
            <a:avLst/>
            <a:gdLst/>
            <a:ahLst/>
            <a:cxnLst/>
            <a:rect r="r" b="b" t="t" l="l"/>
            <a:pathLst>
              <a:path h="10530771" w="19092444">
                <a:moveTo>
                  <a:pt x="0" y="0"/>
                </a:moveTo>
                <a:lnTo>
                  <a:pt x="19092444" y="0"/>
                </a:lnTo>
                <a:lnTo>
                  <a:pt x="19092444" y="10530771"/>
                </a:lnTo>
                <a:lnTo>
                  <a:pt x="0" y="105307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70" t="-79628" r="0" b="-7962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772307" y="-361165"/>
            <a:ext cx="4515693" cy="2479526"/>
          </a:xfrm>
          <a:custGeom>
            <a:avLst/>
            <a:gdLst/>
            <a:ahLst/>
            <a:cxnLst/>
            <a:rect r="r" b="b" t="t" l="l"/>
            <a:pathLst>
              <a:path h="2479526" w="4515693">
                <a:moveTo>
                  <a:pt x="0" y="0"/>
                </a:moveTo>
                <a:lnTo>
                  <a:pt x="4515693" y="0"/>
                </a:lnTo>
                <a:lnTo>
                  <a:pt x="4515693" y="2479526"/>
                </a:lnTo>
                <a:lnTo>
                  <a:pt x="0" y="24795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4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157215" y="442456"/>
            <a:ext cx="10577345" cy="5368003"/>
          </a:xfrm>
          <a:custGeom>
            <a:avLst/>
            <a:gdLst/>
            <a:ahLst/>
            <a:cxnLst/>
            <a:rect r="r" b="b" t="t" l="l"/>
            <a:pathLst>
              <a:path h="5368003" w="10577345">
                <a:moveTo>
                  <a:pt x="0" y="0"/>
                </a:moveTo>
                <a:lnTo>
                  <a:pt x="10577345" y="0"/>
                </a:lnTo>
                <a:lnTo>
                  <a:pt x="10577345" y="5368002"/>
                </a:lnTo>
                <a:lnTo>
                  <a:pt x="0" y="53680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79968" y="2792645"/>
            <a:ext cx="4085998" cy="2723998"/>
          </a:xfrm>
          <a:custGeom>
            <a:avLst/>
            <a:gdLst/>
            <a:ahLst/>
            <a:cxnLst/>
            <a:rect r="r" b="b" t="t" l="l"/>
            <a:pathLst>
              <a:path h="2723998" w="4085998">
                <a:moveTo>
                  <a:pt x="0" y="0"/>
                </a:moveTo>
                <a:lnTo>
                  <a:pt x="4085998" y="0"/>
                </a:lnTo>
                <a:lnTo>
                  <a:pt x="4085998" y="2723998"/>
                </a:lnTo>
                <a:lnTo>
                  <a:pt x="0" y="272399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28700" y="5582662"/>
            <a:ext cx="16532690" cy="4387603"/>
            <a:chOff x="0" y="0"/>
            <a:chExt cx="4354289" cy="115558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54289" cy="1155583"/>
            </a:xfrm>
            <a:custGeom>
              <a:avLst/>
              <a:gdLst/>
              <a:ahLst/>
              <a:cxnLst/>
              <a:rect r="r" b="b" t="t" l="l"/>
              <a:pathLst>
                <a:path h="1155583" w="4354289">
                  <a:moveTo>
                    <a:pt x="20136" y="0"/>
                  </a:moveTo>
                  <a:lnTo>
                    <a:pt x="4334153" y="0"/>
                  </a:lnTo>
                  <a:cubicBezTo>
                    <a:pt x="4339493" y="0"/>
                    <a:pt x="4344615" y="2121"/>
                    <a:pt x="4348391" y="5898"/>
                  </a:cubicBezTo>
                  <a:cubicBezTo>
                    <a:pt x="4352167" y="9674"/>
                    <a:pt x="4354289" y="14796"/>
                    <a:pt x="4354289" y="20136"/>
                  </a:cubicBezTo>
                  <a:lnTo>
                    <a:pt x="4354289" y="1135447"/>
                  </a:lnTo>
                  <a:cubicBezTo>
                    <a:pt x="4354289" y="1140787"/>
                    <a:pt x="4352167" y="1145909"/>
                    <a:pt x="4348391" y="1149685"/>
                  </a:cubicBezTo>
                  <a:cubicBezTo>
                    <a:pt x="4344615" y="1153461"/>
                    <a:pt x="4339493" y="1155583"/>
                    <a:pt x="4334153" y="1155583"/>
                  </a:cubicBezTo>
                  <a:lnTo>
                    <a:pt x="20136" y="1155583"/>
                  </a:lnTo>
                  <a:cubicBezTo>
                    <a:pt x="14796" y="1155583"/>
                    <a:pt x="9674" y="1153461"/>
                    <a:pt x="5898" y="1149685"/>
                  </a:cubicBezTo>
                  <a:cubicBezTo>
                    <a:pt x="2121" y="1145909"/>
                    <a:pt x="0" y="1140787"/>
                    <a:pt x="0" y="1135447"/>
                  </a:cubicBezTo>
                  <a:lnTo>
                    <a:pt x="0" y="20136"/>
                  </a:lnTo>
                  <a:cubicBezTo>
                    <a:pt x="0" y="14796"/>
                    <a:pt x="2121" y="9674"/>
                    <a:pt x="5898" y="5898"/>
                  </a:cubicBezTo>
                  <a:cubicBezTo>
                    <a:pt x="9674" y="2121"/>
                    <a:pt x="14796" y="0"/>
                    <a:pt x="2013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354289" cy="11936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559038" y="461506"/>
            <a:ext cx="2598245" cy="948359"/>
          </a:xfrm>
          <a:custGeom>
            <a:avLst/>
            <a:gdLst/>
            <a:ahLst/>
            <a:cxnLst/>
            <a:rect r="r" b="b" t="t" l="l"/>
            <a:pathLst>
              <a:path h="948359" w="2598245">
                <a:moveTo>
                  <a:pt x="0" y="0"/>
                </a:moveTo>
                <a:lnTo>
                  <a:pt x="2598244" y="0"/>
                </a:lnTo>
                <a:lnTo>
                  <a:pt x="2598244" y="948359"/>
                </a:lnTo>
                <a:lnTo>
                  <a:pt x="0" y="94835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028700" y="4782739"/>
            <a:ext cx="4919244" cy="721522"/>
            <a:chOff x="0" y="0"/>
            <a:chExt cx="1295603" cy="19003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95603" cy="190031"/>
            </a:xfrm>
            <a:custGeom>
              <a:avLst/>
              <a:gdLst/>
              <a:ahLst/>
              <a:cxnLst/>
              <a:rect r="r" b="b" t="t" l="l"/>
              <a:pathLst>
                <a:path h="190031" w="1295603">
                  <a:moveTo>
                    <a:pt x="0" y="0"/>
                  </a:moveTo>
                  <a:lnTo>
                    <a:pt x="1295603" y="0"/>
                  </a:lnTo>
                  <a:lnTo>
                    <a:pt x="1295603" y="190031"/>
                  </a:lnTo>
                  <a:lnTo>
                    <a:pt x="0" y="190031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1295603" cy="2471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99"/>
                </a:lnSpc>
              </a:pPr>
              <a:r>
                <a:rPr lang="en-US" b="true" sz="2999">
                  <a:solidFill>
                    <a:srgbClr val="FFFFFF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Architecture Diagram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229146" y="5762833"/>
            <a:ext cx="16030154" cy="3785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70"/>
              </a:lnSpc>
            </a:pPr>
            <a:r>
              <a:rPr lang="en-US" sz="3000" b="true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Bronze Layer:</a:t>
            </a:r>
            <a:r>
              <a:rPr lang="en-US" sz="300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 In the raw data layer, we upload customer, product, sales, and store flat files.</a:t>
            </a:r>
          </a:p>
          <a:p>
            <a:pPr algn="l">
              <a:lnSpc>
                <a:spcPts val="5070"/>
              </a:lnSpc>
            </a:pPr>
            <a:r>
              <a:rPr lang="en-US" sz="3000" b="true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Silver Layer: </a:t>
            </a:r>
            <a:r>
              <a:rPr lang="en-US" sz="300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In the Silver layer, the data is loaded and transformed by applying trimming and removing duplicates.</a:t>
            </a:r>
          </a:p>
          <a:p>
            <a:pPr algn="l">
              <a:lnSpc>
                <a:spcPts val="5070"/>
              </a:lnSpc>
            </a:pPr>
            <a:r>
              <a:rPr lang="en-US" sz="3000" b="true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Gold Layer: </a:t>
            </a:r>
            <a:r>
              <a:rPr lang="en-US" sz="300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The Gold layer contains aggregated, optimized, and business-ready data to support business analytics and dashboards.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530771"/>
          </a:xfrm>
          <a:custGeom>
            <a:avLst/>
            <a:gdLst/>
            <a:ahLst/>
            <a:cxnLst/>
            <a:rect r="r" b="b" t="t" l="l"/>
            <a:pathLst>
              <a:path h="10530771" w="18288000">
                <a:moveTo>
                  <a:pt x="0" y="0"/>
                </a:moveTo>
                <a:lnTo>
                  <a:pt x="18288000" y="0"/>
                </a:lnTo>
                <a:lnTo>
                  <a:pt x="18288000" y="10530771"/>
                </a:lnTo>
                <a:lnTo>
                  <a:pt x="0" y="105307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22" t="-79628" r="-4398" b="-7962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68588" y="257871"/>
            <a:ext cx="3294966" cy="1202663"/>
          </a:xfrm>
          <a:custGeom>
            <a:avLst/>
            <a:gdLst/>
            <a:ahLst/>
            <a:cxnLst/>
            <a:rect r="r" b="b" t="t" l="l"/>
            <a:pathLst>
              <a:path h="1202663" w="3294966">
                <a:moveTo>
                  <a:pt x="0" y="0"/>
                </a:moveTo>
                <a:lnTo>
                  <a:pt x="3294965" y="0"/>
                </a:lnTo>
                <a:lnTo>
                  <a:pt x="3294965" y="1202663"/>
                </a:lnTo>
                <a:lnTo>
                  <a:pt x="0" y="12026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223299" y="-778257"/>
            <a:ext cx="4515693" cy="2479526"/>
          </a:xfrm>
          <a:custGeom>
            <a:avLst/>
            <a:gdLst/>
            <a:ahLst/>
            <a:cxnLst/>
            <a:rect r="r" b="b" t="t" l="l"/>
            <a:pathLst>
              <a:path h="2479526" w="4515693">
                <a:moveTo>
                  <a:pt x="0" y="0"/>
                </a:moveTo>
                <a:lnTo>
                  <a:pt x="4515693" y="0"/>
                </a:lnTo>
                <a:lnTo>
                  <a:pt x="4515693" y="2479526"/>
                </a:lnTo>
                <a:lnTo>
                  <a:pt x="0" y="24795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765194" y="-380560"/>
            <a:ext cx="4515693" cy="2479526"/>
          </a:xfrm>
          <a:custGeom>
            <a:avLst/>
            <a:gdLst/>
            <a:ahLst/>
            <a:cxnLst/>
            <a:rect r="r" b="b" t="t" l="l"/>
            <a:pathLst>
              <a:path h="2479526" w="4515693">
                <a:moveTo>
                  <a:pt x="0" y="0"/>
                </a:moveTo>
                <a:lnTo>
                  <a:pt x="4515692" y="0"/>
                </a:lnTo>
                <a:lnTo>
                  <a:pt x="4515692" y="2479526"/>
                </a:lnTo>
                <a:lnTo>
                  <a:pt x="0" y="24795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181772" y="532908"/>
            <a:ext cx="2720898" cy="652590"/>
          </a:xfrm>
          <a:custGeom>
            <a:avLst/>
            <a:gdLst/>
            <a:ahLst/>
            <a:cxnLst/>
            <a:rect r="r" b="b" t="t" l="l"/>
            <a:pathLst>
              <a:path h="652590" w="2720898">
                <a:moveTo>
                  <a:pt x="0" y="0"/>
                </a:moveTo>
                <a:lnTo>
                  <a:pt x="2720897" y="0"/>
                </a:lnTo>
                <a:lnTo>
                  <a:pt x="2720897" y="652590"/>
                </a:lnTo>
                <a:lnTo>
                  <a:pt x="0" y="65259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019175" y="2146591"/>
            <a:ext cx="16433944" cy="7897158"/>
            <a:chOff x="0" y="0"/>
            <a:chExt cx="4328282" cy="207991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328282" cy="2079910"/>
            </a:xfrm>
            <a:custGeom>
              <a:avLst/>
              <a:gdLst/>
              <a:ahLst/>
              <a:cxnLst/>
              <a:rect r="r" b="b" t="t" l="l"/>
              <a:pathLst>
                <a:path h="2079910" w="4328282">
                  <a:moveTo>
                    <a:pt x="0" y="0"/>
                  </a:moveTo>
                  <a:lnTo>
                    <a:pt x="4328282" y="0"/>
                  </a:lnTo>
                  <a:lnTo>
                    <a:pt x="4328282" y="2079910"/>
                  </a:lnTo>
                  <a:lnTo>
                    <a:pt x="0" y="207991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328282" cy="21180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2597679" y="2736649"/>
            <a:ext cx="12883467" cy="7221375"/>
          </a:xfrm>
          <a:custGeom>
            <a:avLst/>
            <a:gdLst/>
            <a:ahLst/>
            <a:cxnLst/>
            <a:rect r="r" b="b" t="t" l="l"/>
            <a:pathLst>
              <a:path h="7221375" w="12883467">
                <a:moveTo>
                  <a:pt x="0" y="0"/>
                </a:moveTo>
                <a:lnTo>
                  <a:pt x="12883467" y="0"/>
                </a:lnTo>
                <a:lnTo>
                  <a:pt x="12883467" y="7221375"/>
                </a:lnTo>
                <a:lnTo>
                  <a:pt x="0" y="72213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4193" r="0" b="-14745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019175" y="1785830"/>
            <a:ext cx="4919244" cy="721522"/>
            <a:chOff x="0" y="0"/>
            <a:chExt cx="1295603" cy="19003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95603" cy="190031"/>
            </a:xfrm>
            <a:custGeom>
              <a:avLst/>
              <a:gdLst/>
              <a:ahLst/>
              <a:cxnLst/>
              <a:rect r="r" b="b" t="t" l="l"/>
              <a:pathLst>
                <a:path h="190031" w="1295603">
                  <a:moveTo>
                    <a:pt x="0" y="0"/>
                  </a:moveTo>
                  <a:lnTo>
                    <a:pt x="1295603" y="0"/>
                  </a:lnTo>
                  <a:lnTo>
                    <a:pt x="1295603" y="190031"/>
                  </a:lnTo>
                  <a:lnTo>
                    <a:pt x="0" y="190031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1295603" cy="2471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99"/>
                </a:lnSpc>
              </a:pPr>
              <a:r>
                <a:rPr lang="en-US" b="true" sz="2999">
                  <a:solidFill>
                    <a:srgbClr val="FFFFFF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Data Model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530771"/>
          </a:xfrm>
          <a:custGeom>
            <a:avLst/>
            <a:gdLst/>
            <a:ahLst/>
            <a:cxnLst/>
            <a:rect r="r" b="b" t="t" l="l"/>
            <a:pathLst>
              <a:path h="10530771" w="18288000">
                <a:moveTo>
                  <a:pt x="0" y="0"/>
                </a:moveTo>
                <a:lnTo>
                  <a:pt x="18288000" y="0"/>
                </a:lnTo>
                <a:lnTo>
                  <a:pt x="18288000" y="10530771"/>
                </a:lnTo>
                <a:lnTo>
                  <a:pt x="0" y="105307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22" t="-79628" r="-4398" b="-7962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68588" y="257871"/>
            <a:ext cx="4101100" cy="1496902"/>
          </a:xfrm>
          <a:custGeom>
            <a:avLst/>
            <a:gdLst/>
            <a:ahLst/>
            <a:cxnLst/>
            <a:rect r="r" b="b" t="t" l="l"/>
            <a:pathLst>
              <a:path h="1496902" w="4101100">
                <a:moveTo>
                  <a:pt x="0" y="0"/>
                </a:moveTo>
                <a:lnTo>
                  <a:pt x="4101100" y="0"/>
                </a:lnTo>
                <a:lnTo>
                  <a:pt x="4101100" y="1496902"/>
                </a:lnTo>
                <a:lnTo>
                  <a:pt x="0" y="14969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917503" y="2366795"/>
            <a:ext cx="16433944" cy="6744542"/>
            <a:chOff x="0" y="0"/>
            <a:chExt cx="4328282" cy="17763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328282" cy="1776340"/>
            </a:xfrm>
            <a:custGeom>
              <a:avLst/>
              <a:gdLst/>
              <a:ahLst/>
              <a:cxnLst/>
              <a:rect r="r" b="b" t="t" l="l"/>
              <a:pathLst>
                <a:path h="1776340" w="4328282">
                  <a:moveTo>
                    <a:pt x="0" y="0"/>
                  </a:moveTo>
                  <a:lnTo>
                    <a:pt x="4328282" y="0"/>
                  </a:lnTo>
                  <a:lnTo>
                    <a:pt x="4328282" y="1776340"/>
                  </a:lnTo>
                  <a:lnTo>
                    <a:pt x="0" y="17763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328282" cy="18144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7503" y="1852505"/>
            <a:ext cx="4919244" cy="721522"/>
            <a:chOff x="0" y="0"/>
            <a:chExt cx="1295603" cy="19003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95603" cy="190031"/>
            </a:xfrm>
            <a:custGeom>
              <a:avLst/>
              <a:gdLst/>
              <a:ahLst/>
              <a:cxnLst/>
              <a:rect r="r" b="b" t="t" l="l"/>
              <a:pathLst>
                <a:path h="190031" w="1295603">
                  <a:moveTo>
                    <a:pt x="0" y="0"/>
                  </a:moveTo>
                  <a:lnTo>
                    <a:pt x="1295603" y="0"/>
                  </a:lnTo>
                  <a:lnTo>
                    <a:pt x="1295603" y="190031"/>
                  </a:lnTo>
                  <a:lnTo>
                    <a:pt x="0" y="190031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1295603" cy="2471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99"/>
                </a:lnSpc>
              </a:pPr>
              <a:r>
                <a:rPr lang="en-US" b="true" sz="2999">
                  <a:solidFill>
                    <a:srgbClr val="FFFFFF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Data Loading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206533" y="3092421"/>
            <a:ext cx="3874047" cy="5472783"/>
          </a:xfrm>
          <a:custGeom>
            <a:avLst/>
            <a:gdLst/>
            <a:ahLst/>
            <a:cxnLst/>
            <a:rect r="r" b="b" t="t" l="l"/>
            <a:pathLst>
              <a:path h="5472783" w="3874047">
                <a:moveTo>
                  <a:pt x="0" y="0"/>
                </a:moveTo>
                <a:lnTo>
                  <a:pt x="3874048" y="0"/>
                </a:lnTo>
                <a:lnTo>
                  <a:pt x="3874048" y="5472783"/>
                </a:lnTo>
                <a:lnTo>
                  <a:pt x="0" y="54727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4108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5406213" y="3217376"/>
            <a:ext cx="11151534" cy="5032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75"/>
              </a:lnSpc>
            </a:pPr>
            <a:r>
              <a:rPr lang="en-US" sz="2500" b="true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Bronze Layer:</a:t>
            </a:r>
            <a:r>
              <a:rPr lang="en-US" sz="250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 Stores raw </a:t>
            </a:r>
            <a:r>
              <a:rPr lang="en-US" sz="250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data loaded directly from source CSV files</a:t>
            </a:r>
          </a:p>
          <a:p>
            <a:pPr algn="l">
              <a:lnSpc>
                <a:spcPts val="5075"/>
              </a:lnSpc>
            </a:pPr>
            <a:r>
              <a:rPr lang="en-US" sz="2500" b="true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Silver Layer:</a:t>
            </a:r>
            <a:r>
              <a:rPr lang="en-US" sz="250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 Cleans and transforms data by removing duplicates, handling nulls, and standardizing fields</a:t>
            </a:r>
          </a:p>
          <a:p>
            <a:pPr algn="l">
              <a:lnSpc>
                <a:spcPts val="5075"/>
              </a:lnSpc>
            </a:pPr>
            <a:r>
              <a:rPr lang="en-US" sz="2500" b="true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Gold Layer:</a:t>
            </a:r>
            <a:r>
              <a:rPr lang="en-US" sz="250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 Contains business-ready fact &amp; dimension tables and KPI dynamic tables for reporting</a:t>
            </a:r>
          </a:p>
          <a:p>
            <a:pPr algn="l">
              <a:lnSpc>
                <a:spcPts val="5075"/>
              </a:lnSpc>
            </a:pPr>
            <a:r>
              <a:rPr lang="en-US" sz="2500" b="true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Stages &amp; File Formats:</a:t>
            </a:r>
            <a:r>
              <a:rPr lang="en-US" sz="250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 Used to upload and read source files</a:t>
            </a:r>
          </a:p>
          <a:p>
            <a:pPr algn="l">
              <a:lnSpc>
                <a:spcPts val="5075"/>
              </a:lnSpc>
            </a:pPr>
            <a:r>
              <a:rPr lang="en-US" sz="2500" b="true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Consumption Layer:</a:t>
            </a:r>
            <a:r>
              <a:rPr lang="en-US" sz="250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 Dashboards and reports built using Gold layer data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530771"/>
          </a:xfrm>
          <a:custGeom>
            <a:avLst/>
            <a:gdLst/>
            <a:ahLst/>
            <a:cxnLst/>
            <a:rect r="r" b="b" t="t" l="l"/>
            <a:pathLst>
              <a:path h="10530771" w="18288000">
                <a:moveTo>
                  <a:pt x="0" y="0"/>
                </a:moveTo>
                <a:lnTo>
                  <a:pt x="18288000" y="0"/>
                </a:lnTo>
                <a:lnTo>
                  <a:pt x="18288000" y="10530771"/>
                </a:lnTo>
                <a:lnTo>
                  <a:pt x="0" y="105307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22" t="-79628" r="-4398" b="-7962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17503" y="2366795"/>
            <a:ext cx="16433944" cy="6744542"/>
            <a:chOff x="0" y="0"/>
            <a:chExt cx="4328282" cy="17763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328282" cy="1776340"/>
            </a:xfrm>
            <a:custGeom>
              <a:avLst/>
              <a:gdLst/>
              <a:ahLst/>
              <a:cxnLst/>
              <a:rect r="r" b="b" t="t" l="l"/>
              <a:pathLst>
                <a:path h="1776340" w="4328282">
                  <a:moveTo>
                    <a:pt x="0" y="0"/>
                  </a:moveTo>
                  <a:lnTo>
                    <a:pt x="4328282" y="0"/>
                  </a:lnTo>
                  <a:lnTo>
                    <a:pt x="4328282" y="1776340"/>
                  </a:lnTo>
                  <a:lnTo>
                    <a:pt x="0" y="17763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328282" cy="18144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768588" y="257871"/>
            <a:ext cx="4101100" cy="1496902"/>
          </a:xfrm>
          <a:custGeom>
            <a:avLst/>
            <a:gdLst/>
            <a:ahLst/>
            <a:cxnLst/>
            <a:rect r="r" b="b" t="t" l="l"/>
            <a:pathLst>
              <a:path h="1496902" w="4101100">
                <a:moveTo>
                  <a:pt x="0" y="0"/>
                </a:moveTo>
                <a:lnTo>
                  <a:pt x="4101100" y="0"/>
                </a:lnTo>
                <a:lnTo>
                  <a:pt x="4101100" y="1496902"/>
                </a:lnTo>
                <a:lnTo>
                  <a:pt x="0" y="14969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917503" y="1852505"/>
            <a:ext cx="4919244" cy="721522"/>
            <a:chOff x="0" y="0"/>
            <a:chExt cx="1295603" cy="19003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95603" cy="190031"/>
            </a:xfrm>
            <a:custGeom>
              <a:avLst/>
              <a:gdLst/>
              <a:ahLst/>
              <a:cxnLst/>
              <a:rect r="r" b="b" t="t" l="l"/>
              <a:pathLst>
                <a:path h="190031" w="1295603">
                  <a:moveTo>
                    <a:pt x="0" y="0"/>
                  </a:moveTo>
                  <a:lnTo>
                    <a:pt x="1295603" y="0"/>
                  </a:lnTo>
                  <a:lnTo>
                    <a:pt x="1295603" y="190031"/>
                  </a:lnTo>
                  <a:lnTo>
                    <a:pt x="0" y="190031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1295603" cy="2471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99"/>
                </a:lnSpc>
              </a:pPr>
              <a:r>
                <a:rPr lang="en-US" b="true" sz="2999">
                  <a:solidFill>
                    <a:srgbClr val="FFFFFF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Data Quality Check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415852" y="2907811"/>
            <a:ext cx="12896611" cy="5472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66566" indent="-383283" lvl="1">
              <a:lnSpc>
                <a:spcPts val="6248"/>
              </a:lnSpc>
              <a:buFont typeface="Arial"/>
              <a:buChar char="•"/>
            </a:pPr>
            <a:r>
              <a:rPr lang="en-US" sz="355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Cleane</a:t>
            </a:r>
            <a:r>
              <a:rPr lang="en-US" sz="355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d and standardized customer, product, sales, and store data using TRIM and COALESCE.</a:t>
            </a:r>
          </a:p>
          <a:p>
            <a:pPr algn="l" marL="766566" indent="-383283" lvl="1">
              <a:lnSpc>
                <a:spcPts val="6248"/>
              </a:lnSpc>
              <a:buFont typeface="Arial"/>
              <a:buChar char="•"/>
            </a:pPr>
            <a:r>
              <a:rPr lang="en-US" sz="355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Ensured one unique record per customer and product.</a:t>
            </a:r>
          </a:p>
          <a:p>
            <a:pPr algn="l" marL="766566" indent="-383283" lvl="1">
              <a:lnSpc>
                <a:spcPts val="6248"/>
              </a:lnSpc>
              <a:buFont typeface="Arial"/>
              <a:buChar char="•"/>
            </a:pPr>
            <a:r>
              <a:rPr lang="en-US" sz="355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Removed duplicate records using DISTINCT and ROW_NUMBER.</a:t>
            </a:r>
          </a:p>
          <a:p>
            <a:pPr algn="l" marL="766566" indent="-383283" lvl="1">
              <a:lnSpc>
                <a:spcPts val="6248"/>
              </a:lnSpc>
              <a:buFont typeface="Arial"/>
              <a:buChar char="•"/>
            </a:pPr>
            <a:r>
              <a:rPr lang="en-US" sz="355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Filtered out null and invalid primary key records.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530771"/>
          </a:xfrm>
          <a:custGeom>
            <a:avLst/>
            <a:gdLst/>
            <a:ahLst/>
            <a:cxnLst/>
            <a:rect r="r" b="b" t="t" l="l"/>
            <a:pathLst>
              <a:path h="10530771" w="18288000">
                <a:moveTo>
                  <a:pt x="0" y="0"/>
                </a:moveTo>
                <a:lnTo>
                  <a:pt x="18288000" y="0"/>
                </a:lnTo>
                <a:lnTo>
                  <a:pt x="18288000" y="10530771"/>
                </a:lnTo>
                <a:lnTo>
                  <a:pt x="0" y="105307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22" t="-79628" r="-4398" b="-7962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68588" y="257871"/>
            <a:ext cx="3084088" cy="1125692"/>
          </a:xfrm>
          <a:custGeom>
            <a:avLst/>
            <a:gdLst/>
            <a:ahLst/>
            <a:cxnLst/>
            <a:rect r="r" b="b" t="t" l="l"/>
            <a:pathLst>
              <a:path h="1125692" w="3084088">
                <a:moveTo>
                  <a:pt x="0" y="0"/>
                </a:moveTo>
                <a:lnTo>
                  <a:pt x="3084088" y="0"/>
                </a:lnTo>
                <a:lnTo>
                  <a:pt x="3084088" y="1125693"/>
                </a:lnTo>
                <a:lnTo>
                  <a:pt x="0" y="11256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330878" y="3611937"/>
            <a:ext cx="14804472" cy="6484552"/>
            <a:chOff x="0" y="0"/>
            <a:chExt cx="3899120" cy="170786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899120" cy="1707866"/>
            </a:xfrm>
            <a:custGeom>
              <a:avLst/>
              <a:gdLst/>
              <a:ahLst/>
              <a:cxnLst/>
              <a:rect r="r" b="b" t="t" l="l"/>
              <a:pathLst>
                <a:path h="1707866" w="3899120">
                  <a:moveTo>
                    <a:pt x="13597" y="0"/>
                  </a:moveTo>
                  <a:lnTo>
                    <a:pt x="3885524" y="0"/>
                  </a:lnTo>
                  <a:cubicBezTo>
                    <a:pt x="3893033" y="0"/>
                    <a:pt x="3899120" y="6087"/>
                    <a:pt x="3899120" y="13597"/>
                  </a:cubicBezTo>
                  <a:lnTo>
                    <a:pt x="3899120" y="1694269"/>
                  </a:lnTo>
                  <a:cubicBezTo>
                    <a:pt x="3899120" y="1697875"/>
                    <a:pt x="3897688" y="1701334"/>
                    <a:pt x="3895138" y="1703883"/>
                  </a:cubicBezTo>
                  <a:cubicBezTo>
                    <a:pt x="3892588" y="1706433"/>
                    <a:pt x="3889130" y="1707866"/>
                    <a:pt x="3885524" y="1707866"/>
                  </a:cubicBezTo>
                  <a:lnTo>
                    <a:pt x="13597" y="1707866"/>
                  </a:lnTo>
                  <a:cubicBezTo>
                    <a:pt x="9991" y="1707866"/>
                    <a:pt x="6532" y="1706433"/>
                    <a:pt x="3982" y="1703883"/>
                  </a:cubicBezTo>
                  <a:cubicBezTo>
                    <a:pt x="1432" y="1701334"/>
                    <a:pt x="0" y="1697875"/>
                    <a:pt x="0" y="1694269"/>
                  </a:cubicBezTo>
                  <a:lnTo>
                    <a:pt x="0" y="13597"/>
                  </a:lnTo>
                  <a:cubicBezTo>
                    <a:pt x="0" y="9991"/>
                    <a:pt x="1432" y="6532"/>
                    <a:pt x="3982" y="3982"/>
                  </a:cubicBezTo>
                  <a:cubicBezTo>
                    <a:pt x="6532" y="1432"/>
                    <a:pt x="9991" y="0"/>
                    <a:pt x="13597" y="0"/>
                  </a:cubicBezTo>
                  <a:close/>
                </a:path>
              </a:pathLst>
            </a:custGeom>
            <a:solidFill>
              <a:srgbClr val="000000">
                <a:alpha val="26667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3899120" cy="17459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-1012834" y="922535"/>
            <a:ext cx="6188081" cy="4125387"/>
          </a:xfrm>
          <a:custGeom>
            <a:avLst/>
            <a:gdLst/>
            <a:ahLst/>
            <a:cxnLst/>
            <a:rect r="r" b="b" t="t" l="l"/>
            <a:pathLst>
              <a:path h="4125387" w="6188081">
                <a:moveTo>
                  <a:pt x="0" y="0"/>
                </a:moveTo>
                <a:lnTo>
                  <a:pt x="6188081" y="0"/>
                </a:lnTo>
                <a:lnTo>
                  <a:pt x="6188081" y="4125387"/>
                </a:lnTo>
                <a:lnTo>
                  <a:pt x="0" y="41253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151798" y="2780595"/>
            <a:ext cx="4919244" cy="659891"/>
            <a:chOff x="0" y="0"/>
            <a:chExt cx="1295603" cy="17379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95603" cy="173799"/>
            </a:xfrm>
            <a:custGeom>
              <a:avLst/>
              <a:gdLst/>
              <a:ahLst/>
              <a:cxnLst/>
              <a:rect r="r" b="b" t="t" l="l"/>
              <a:pathLst>
                <a:path h="173799" w="1295603">
                  <a:moveTo>
                    <a:pt x="0" y="0"/>
                  </a:moveTo>
                  <a:lnTo>
                    <a:pt x="1295603" y="0"/>
                  </a:lnTo>
                  <a:lnTo>
                    <a:pt x="1295603" y="173799"/>
                  </a:lnTo>
                  <a:lnTo>
                    <a:pt x="0" y="173799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295603" cy="2309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99"/>
                </a:lnSpc>
              </a:pPr>
              <a:r>
                <a:rPr lang="en-US" b="true" sz="2999">
                  <a:solidFill>
                    <a:srgbClr val="FFFFFF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Dashboard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2743607" y="-627021"/>
            <a:ext cx="4515693" cy="2479526"/>
          </a:xfrm>
          <a:custGeom>
            <a:avLst/>
            <a:gdLst/>
            <a:ahLst/>
            <a:cxnLst/>
            <a:rect r="r" b="b" t="t" l="l"/>
            <a:pathLst>
              <a:path h="2479526" w="4515693">
                <a:moveTo>
                  <a:pt x="0" y="0"/>
                </a:moveTo>
                <a:lnTo>
                  <a:pt x="4515693" y="0"/>
                </a:lnTo>
                <a:lnTo>
                  <a:pt x="4515693" y="2479526"/>
                </a:lnTo>
                <a:lnTo>
                  <a:pt x="0" y="24795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5001454" y="-211063"/>
            <a:ext cx="4515693" cy="2479526"/>
          </a:xfrm>
          <a:custGeom>
            <a:avLst/>
            <a:gdLst/>
            <a:ahLst/>
            <a:cxnLst/>
            <a:rect r="r" b="b" t="t" l="l"/>
            <a:pathLst>
              <a:path h="2479526" w="4515693">
                <a:moveTo>
                  <a:pt x="0" y="0"/>
                </a:moveTo>
                <a:lnTo>
                  <a:pt x="4515692" y="0"/>
                </a:lnTo>
                <a:lnTo>
                  <a:pt x="4515692" y="2479526"/>
                </a:lnTo>
                <a:lnTo>
                  <a:pt x="0" y="24795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4058258" y="461506"/>
            <a:ext cx="3844411" cy="922058"/>
          </a:xfrm>
          <a:custGeom>
            <a:avLst/>
            <a:gdLst/>
            <a:ahLst/>
            <a:cxnLst/>
            <a:rect r="r" b="b" t="t" l="l"/>
            <a:pathLst>
              <a:path h="922058" w="3844411">
                <a:moveTo>
                  <a:pt x="0" y="0"/>
                </a:moveTo>
                <a:lnTo>
                  <a:pt x="3844411" y="0"/>
                </a:lnTo>
                <a:lnTo>
                  <a:pt x="3844411" y="922058"/>
                </a:lnTo>
                <a:lnTo>
                  <a:pt x="0" y="92205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151798" y="3440487"/>
            <a:ext cx="14809332" cy="6541702"/>
          </a:xfrm>
          <a:custGeom>
            <a:avLst/>
            <a:gdLst/>
            <a:ahLst/>
            <a:cxnLst/>
            <a:rect r="r" b="b" t="t" l="l"/>
            <a:pathLst>
              <a:path h="6541702" w="14809332">
                <a:moveTo>
                  <a:pt x="0" y="0"/>
                </a:moveTo>
                <a:lnTo>
                  <a:pt x="14809332" y="0"/>
                </a:lnTo>
                <a:lnTo>
                  <a:pt x="14809332" y="6541702"/>
                </a:lnTo>
                <a:lnTo>
                  <a:pt x="0" y="654170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-678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530771"/>
          </a:xfrm>
          <a:custGeom>
            <a:avLst/>
            <a:gdLst/>
            <a:ahLst/>
            <a:cxnLst/>
            <a:rect r="r" b="b" t="t" l="l"/>
            <a:pathLst>
              <a:path h="10530771" w="18288000">
                <a:moveTo>
                  <a:pt x="0" y="0"/>
                </a:moveTo>
                <a:lnTo>
                  <a:pt x="18288000" y="0"/>
                </a:lnTo>
                <a:lnTo>
                  <a:pt x="18288000" y="10530771"/>
                </a:lnTo>
                <a:lnTo>
                  <a:pt x="0" y="105307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22" t="-79628" r="-4398" b="-7962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995511" y="779258"/>
            <a:ext cx="8296978" cy="3028397"/>
          </a:xfrm>
          <a:custGeom>
            <a:avLst/>
            <a:gdLst/>
            <a:ahLst/>
            <a:cxnLst/>
            <a:rect r="r" b="b" t="t" l="l"/>
            <a:pathLst>
              <a:path h="3028397" w="8296978">
                <a:moveTo>
                  <a:pt x="0" y="0"/>
                </a:moveTo>
                <a:lnTo>
                  <a:pt x="8296978" y="0"/>
                </a:lnTo>
                <a:lnTo>
                  <a:pt x="8296978" y="3028397"/>
                </a:lnTo>
                <a:lnTo>
                  <a:pt x="0" y="30283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628750" y="4246443"/>
            <a:ext cx="19545499" cy="3403002"/>
            <a:chOff x="0" y="0"/>
            <a:chExt cx="5147786" cy="8962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47786" cy="896264"/>
            </a:xfrm>
            <a:custGeom>
              <a:avLst/>
              <a:gdLst/>
              <a:ahLst/>
              <a:cxnLst/>
              <a:rect r="r" b="b" t="t" l="l"/>
              <a:pathLst>
                <a:path h="896264" w="5147786">
                  <a:moveTo>
                    <a:pt x="0" y="0"/>
                  </a:moveTo>
                  <a:lnTo>
                    <a:pt x="5147786" y="0"/>
                  </a:lnTo>
                  <a:lnTo>
                    <a:pt x="5147786" y="896264"/>
                  </a:lnTo>
                  <a:lnTo>
                    <a:pt x="0" y="89626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171450"/>
              <a:ext cx="5147786" cy="10677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599"/>
                </a:lnSpc>
              </a:pPr>
              <a:r>
                <a:rPr lang="en-US" b="true" sz="9000">
                  <a:solidFill>
                    <a:srgbClr val="10128C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THANK YOU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DAG_N_qKwaA</dc:identifier>
  <dcterms:modified xsi:type="dcterms:W3CDTF">2011-08-01T06:04:30Z</dcterms:modified>
  <cp:revision>1</cp:revision>
  <dc:title>Retail: Sales &amp; Customer Analytics</dc:title>
</cp:coreProperties>
</file>